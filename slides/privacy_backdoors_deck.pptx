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2000" y="217080"/>
            <a:ext cx="8645400" cy="603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46240" y="791640"/>
            <a:ext cx="8645400" cy="3711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90000"/>
              </a:lnSpc>
              <a:buClr>
                <a:srgbClr val="000000"/>
              </a:buClr>
              <a:buFont typeface="Arial"/>
              <a:buChar char="●"/>
              <a:defRPr lang="en-US" sz="2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74760" algn="l">
              <a:lnSpc>
                <a:spcPct val="9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Google Shape;20;p3"/>
          <p:cNvSpPr/>
          <p:nvPr/>
        </p:nvSpPr>
        <p:spPr>
          <a:xfrm>
            <a:off x="-10080" y="4964760"/>
            <a:ext cx="4581720" cy="18864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21;p3"/>
          <p:cNvSpPr/>
          <p:nvPr/>
        </p:nvSpPr>
        <p:spPr>
          <a:xfrm>
            <a:off x="4572000" y="4964760"/>
            <a:ext cx="4581720" cy="18864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1"/>
          </p:nvPr>
        </p:nvSpPr>
        <p:spPr>
          <a:xfrm>
            <a:off x="8123760" y="4964760"/>
            <a:ext cx="1019880" cy="18864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D82554-5C97-41C5-A1C9-A74DF212B9A6}" type="slidenum">
              <a:rPr lang="en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Google Shape;23;p3"/>
          <p:cNvSpPr/>
          <p:nvPr/>
        </p:nvSpPr>
        <p:spPr>
          <a:xfrm>
            <a:off x="-10080" y="-7560"/>
            <a:ext cx="4581720" cy="22428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Google Shape;24;p3"/>
          <p:cNvSpPr/>
          <p:nvPr/>
        </p:nvSpPr>
        <p:spPr>
          <a:xfrm>
            <a:off x="4572000" y="-7560"/>
            <a:ext cx="4571640" cy="224280"/>
          </a:xfrm>
          <a:prstGeom prst="rect">
            <a:avLst/>
          </a:prstGeom>
          <a:solidFill>
            <a:srgbClr val="7F7F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25;p3"/>
          <p:cNvSpPr/>
          <p:nvPr/>
        </p:nvSpPr>
        <p:spPr>
          <a:xfrm>
            <a:off x="52200" y="-28440"/>
            <a:ext cx="996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0" name="Google Shape;26;p3"/>
          <p:cNvPicPr/>
          <p:nvPr/>
        </p:nvPicPr>
        <p:blipFill>
          <a:blip r:embed="rId2"/>
          <a:stretch/>
        </p:blipFill>
        <p:spPr>
          <a:xfrm>
            <a:off x="0" y="4449960"/>
            <a:ext cx="1088280" cy="65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Google Shape;27;p3"/>
          <p:cNvSpPr/>
          <p:nvPr/>
        </p:nvSpPr>
        <p:spPr>
          <a:xfrm>
            <a:off x="6903000" y="-24480"/>
            <a:ext cx="2259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9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9120" cy="28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D5B57807-715C-4C93-9305-B25DCF54985F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 rot="5400000">
            <a:off x="2940480" y="-942480"/>
            <a:ext cx="3263040" cy="7886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5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6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7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2DEE7D2D-41EF-4AFD-8583-24FEFE1F095A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 rot="5400000">
            <a:off x="5350320" y="1467360"/>
            <a:ext cx="4358520" cy="197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 rot="5400000">
            <a:off x="1349640" y="-446760"/>
            <a:ext cx="4358520" cy="580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8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9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0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99CB1625-C55F-4BE6-A1E2-63F27BA031B6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040" y="301680"/>
            <a:ext cx="8645400" cy="73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90000"/>
              </a:lnSpc>
              <a:buNone/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Google Shape;30;p4"/>
          <p:cNvSpPr/>
          <p:nvPr/>
        </p:nvSpPr>
        <p:spPr>
          <a:xfrm>
            <a:off x="52200" y="-28440"/>
            <a:ext cx="996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Dyninst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1;p4"/>
          <p:cNvSpPr/>
          <p:nvPr/>
        </p:nvSpPr>
        <p:spPr>
          <a:xfrm>
            <a:off x="6903000" y="-24480"/>
            <a:ext cx="2259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Scalable Tools Workshop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1"/>
          </p:nvPr>
        </p:nvSpPr>
        <p:spPr>
          <a:xfrm>
            <a:off x="8119800" y="4965120"/>
            <a:ext cx="1023840" cy="19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C5A24C4-287D-4BE2-B5DC-45FFADE4E508}" type="slidenum">
              <a:rPr lang="en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4F9A538F-6406-46A4-B9FE-667E84E70EDC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520" cy="213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52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5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6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7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B274C3F3-1843-430E-83E2-D50396227EC7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18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19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0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D28CA439-7BB8-4010-8234-12F8E6CED6FC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840" cy="61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840" cy="276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920" cy="61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920" cy="276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34308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2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C27465F8-5F60-44EC-BDC1-2D84EF1FAD36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2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2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2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6A046B1A-663B-4A0C-A7AA-1382CFF05CFF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dt" idx="27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8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9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52DFEE-9994-498A-83BB-4816629E3E26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9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43164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9120" cy="28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marL="4572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fld id="{98ED69AF-9531-4D08-A45C-16D6E584352F}" type="slidenum"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&lt;number&gt;</a:t>
            </a:fld>
            <a:r>
              <a:rPr lang="en" sz="120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image.png"/>
          <p:cNvPicPr/>
          <p:nvPr/>
        </p:nvPicPr>
        <p:blipFill>
          <a:blip r:embed="rId1"/>
          <a:stretch/>
        </p:blipFill>
        <p:spPr>
          <a:xfrm>
            <a:off x="457200" y="365760"/>
            <a:ext cx="182844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ectangle 2"/>
          <p:cNvSpPr/>
          <p:nvPr/>
        </p:nvSpPr>
        <p:spPr>
          <a:xfrm>
            <a:off x="457200" y="1508760"/>
            <a:ext cx="8229240" cy="363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457200" y="192024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40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Privacy Backdoors and the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Tightness of DP-SGD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457200" y="37490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Divyam Anshumaan,  Ronak Chauhan,  and  Sarthak Choudhary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457200" y="4160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Differential Privacy course project  ·  University of Wisconsin–Madison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6"/>
          <p:cNvSpPr/>
          <p:nvPr/>
        </p:nvSpPr>
        <p:spPr>
          <a:xfrm>
            <a:off x="0" y="4732200"/>
            <a:ext cx="9143640" cy="41112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Setting and the question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457200" y="132588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spAutoFit/>
          </a:bodyPr>
          <a:p>
            <a:pPr>
              <a:lnSpc>
                <a:spcPct val="115000"/>
              </a:lnSpc>
            </a:pPr>
            <a:r>
              <a:rPr lang="en-US" sz="16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▸  </a:t>
            </a: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Practitioners download pretrained checkpoints and fine-tune them on private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</a:pPr>
            <a:r>
              <a:rPr lang="en-US" sz="16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▸  </a:t>
            </a: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DP-SGD is the standard defense against memorization of fine-tuning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</a:pPr>
            <a:r>
              <a:rPr lang="en-US" sz="16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▸  </a:t>
            </a:r>
            <a:r>
              <a:rPr lang="en-US" sz="16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What if the pretrained weights themselves are adversarial?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457200" y="3383280"/>
            <a:ext cx="8229240" cy="1188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365760" y="3383280"/>
            <a:ext cx="54360" cy="11883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594360" y="345636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Claim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594360" y="3749040"/>
            <a:ext cx="79549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The slack between the DP-SGD upper bound and what end-to-end attackers achieve in practice is an artifact of benign initializations, not a structural property of the analysis.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2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9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Threat model and objective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457200" y="1325880"/>
            <a:ext cx="2194200" cy="77688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457200" y="14173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Provider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457200" y="16916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θ₀ᵇᵇ  (backbone)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ight Arrow 6"/>
          <p:cNvSpPr/>
          <p:nvPr/>
        </p:nvSpPr>
        <p:spPr>
          <a:xfrm>
            <a:off x="2697480" y="1600200"/>
            <a:ext cx="5025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3246120" y="1325880"/>
            <a:ext cx="2194200" cy="77688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8"/>
          <p:cNvSpPr/>
          <p:nvPr/>
        </p:nvSpPr>
        <p:spPr>
          <a:xfrm>
            <a:off x="3246120" y="14173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Victim init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9"/>
          <p:cNvSpPr/>
          <p:nvPr/>
        </p:nvSpPr>
        <p:spPr>
          <a:xfrm>
            <a:off x="3246120" y="16916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θ₀ = (θ₀ᵇᵇ, θ₀ʰᵉᵃᵈ)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ight Arrow 10"/>
          <p:cNvSpPr/>
          <p:nvPr/>
        </p:nvSpPr>
        <p:spPr>
          <a:xfrm>
            <a:off x="5486400" y="1600200"/>
            <a:ext cx="50256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1"/>
          <p:cNvSpPr/>
          <p:nvPr/>
        </p:nvSpPr>
        <p:spPr>
          <a:xfrm>
            <a:off x="6035040" y="1325880"/>
            <a:ext cx="2194200" cy="77688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6035040" y="14173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Released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6035040" y="16916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θ_T = A(θ₀, 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4"/>
          <p:cNvSpPr/>
          <p:nvPr/>
        </p:nvSpPr>
        <p:spPr>
          <a:xfrm>
            <a:off x="457200" y="2240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Adversary  =  the provider.    Access  =  white-box, end-to-end (only θ_T).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5"/>
          <p:cNvSpPr/>
          <p:nvPr/>
        </p:nvSpPr>
        <p:spPr>
          <a:xfrm>
            <a:off x="457200" y="3246120"/>
            <a:ext cx="3977280" cy="1279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6"/>
          <p:cNvSpPr/>
          <p:nvPr/>
        </p:nvSpPr>
        <p:spPr>
          <a:xfrm>
            <a:off x="594360" y="335592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RECONSTRUCTION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7"/>
          <p:cNvSpPr/>
          <p:nvPr/>
        </p:nvSpPr>
        <p:spPr>
          <a:xfrm>
            <a:off x="594360" y="3657600"/>
            <a:ext cx="3702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Recover at least k training examples to within tolerance τ, with failure prob ≤ 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8"/>
          <p:cNvSpPr/>
          <p:nvPr/>
        </p:nvSpPr>
        <p:spPr>
          <a:xfrm>
            <a:off x="4709160" y="3246120"/>
            <a:ext cx="3977280" cy="1279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9"/>
          <p:cNvSpPr/>
          <p:nvPr/>
        </p:nvSpPr>
        <p:spPr>
          <a:xfrm>
            <a:off x="4846320" y="335592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UTILITY PRESERVATION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4846320" y="3657600"/>
            <a:ext cx="3702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Fine-tuning θ₀ produces a model whose accuracy is within γ of a clean reference initialization.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1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3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22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The data trap:  one ReLU unit + a latch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457200" y="13258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A single hidden unit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457200" y="16275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h = ReLU(wᵀx + 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457200" y="210312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If x* is the only activator in a minibatch: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457200" y="2395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i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∇_w L = (∂L/∂h) · x*       ∇_b L = (∂L/∂h)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457200" y="27889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→  recover x* by dividing the weight update by the bias update.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8"/>
          <p:cNvSpPr/>
          <p:nvPr/>
        </p:nvSpPr>
        <p:spPr>
          <a:xfrm>
            <a:off x="5212080" y="1325880"/>
            <a:ext cx="3474360" cy="320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5349240" y="14173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THE LATCH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5349240" y="16916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Goal: fire once on x*, then stay silent forever.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5349240" y="224028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An amplifier path makes ∂L/∂h large and positive after the first activation.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5349240" y="3017520"/>
            <a:ext cx="3200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After the SGD update, the unit's pre-activation is negative for every future input  →  the trap is closed.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457200" y="46177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This recovers one input.  How much information does the trap actually leak under DP-SGD?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4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4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DP-SGD looks loose end-to-end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457200" y="1280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Standard DP-SGD upper bound:    ε*(δ)   from the moments / RDP accountant.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457200" y="16275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Holds for any adversary, including one who sees every intermediate noisy gradient.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457200" y="2194560"/>
            <a:ext cx="3977280" cy="191988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594360" y="230436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PER-STEP ADVERSARY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594360" y="260604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Sees full trajectory  (G₁, …, G_T)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594360" y="306324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Audits reach  ε̃  ≈  ε*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594360" y="361188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Upper bound is tight here.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4709160" y="2194560"/>
            <a:ext cx="3977280" cy="191988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4846320" y="230436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END-TO-END ADVERSARY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4846320" y="260604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Sees only the final  θ_T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4846320" y="306324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Audits saturate at  ε̃  ≈  ε* /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4846320" y="361188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Production deploys ε ∈ [8, 9] on this slack.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457200" y="4343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Q.   Is the slack structural,  or an artifact of benign initializations?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5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Hypothesis-testing lower bound on 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457200" y="128016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(1)  DP gives a constraint on every test: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777240" y="1572840"/>
            <a:ext cx="7954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TPR(R)  ≤  e^ε · FPR(R)  +  δ          for every rejection region 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457200" y="224028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(2)  Rearrange to a necessary condition: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777240" y="2532960"/>
            <a:ext cx="7954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ε  ≥  log ( (TPR(R) − δ) / FPR(R) 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457200" y="32004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(3)  Take the supremum over R, restrict to a scalar canary Δ: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777240" y="3493080"/>
            <a:ext cx="7954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ε̃  =  sup_t   log ( (Pr[Δ ≥ t | D₁] − δ) / Pr[Δ ≥ t | D₀] 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9"/>
          <p:cNvSpPr/>
          <p:nvPr/>
        </p:nvSpPr>
        <p:spPr>
          <a:xfrm>
            <a:off x="457200" y="4251960"/>
            <a:ext cx="8229240" cy="502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594360" y="433440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Mechanism-agnostic.    Threshold tests are Neyman–Pearson optimal when Δ is a sufficient statistic.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6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Canary reduction  →  tightness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457200" y="1280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Backdoor canary on coordinate j*: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777240" y="157284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g_t(i)[j*]  =  ±C  if  i = x*  is in the lot,    0  otherwise.    (Multi-use, every step.)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457200" y="21945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Two scalar marginals on  Δ(θ_T) 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6"/>
          <p:cNvSpPr/>
          <p:nvPr/>
        </p:nvSpPr>
        <p:spPr>
          <a:xfrm>
            <a:off x="457200" y="2487240"/>
            <a:ext cx="3977280" cy="118836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7"/>
          <p:cNvSpPr/>
          <p:nvPr/>
        </p:nvSpPr>
        <p:spPr>
          <a:xfrm>
            <a:off x="594360" y="257868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Under  D₀  (target absent)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8"/>
          <p:cNvSpPr/>
          <p:nvPr/>
        </p:nvSpPr>
        <p:spPr>
          <a:xfrm>
            <a:off x="594360" y="290772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Δ(θ_T)  ∼  𝒩( 0,  T·σ²C² 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9"/>
          <p:cNvSpPr/>
          <p:nvPr/>
        </p:nvSpPr>
        <p:spPr>
          <a:xfrm>
            <a:off x="4709160" y="2487240"/>
            <a:ext cx="3977280" cy="1188360"/>
          </a:xfrm>
          <a:prstGeom prst="rect">
            <a:avLst/>
          </a:prstGeom>
          <a:solidFill>
            <a:srgbClr val="F5F5F5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4846320" y="257868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Under  D₁  (target present)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1"/>
          <p:cNvSpPr/>
          <p:nvPr/>
        </p:nvSpPr>
        <p:spPr>
          <a:xfrm>
            <a:off x="4846320" y="290772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Δ(θ_T)  ∼  C·Bin(T, q)  +  𝒩( 0,  T·σ²C² 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2"/>
          <p:cNvSpPr/>
          <p:nvPr/>
        </p:nvSpPr>
        <p:spPr>
          <a:xfrm>
            <a:off x="457200" y="4069080"/>
            <a:ext cx="8229240" cy="776880"/>
          </a:xfrm>
          <a:prstGeom prst="rect">
            <a:avLst/>
          </a:prstGeom>
          <a:solidFill>
            <a:srgbClr val="C5050C"/>
          </a:solidFill>
          <a:ln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594360" y="4160520"/>
            <a:ext cx="7954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Theorem.    ε̃ (δ)  =  ε* (δ).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594360" y="45262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End-to-end attack on a backdoored DP-SGD matches the analytical upper bound.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7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6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Reconstruction on MLP / CIFAR-10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457200" y="11887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Setup:    3-layer MLP    ·    256 hidden units, 64 traps    ·    fine-tune with vanilla SGD on CIFAR-10.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"/>
          <p:cNvSpPr/>
          <p:nvPr/>
        </p:nvSpPr>
        <p:spPr>
          <a:xfrm>
            <a:off x="1143000" y="1691640"/>
            <a:ext cx="6857640" cy="2377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1143000" y="26517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[ Reconstruction grid: original images (top row) vs. recovered images (bottom row)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1143000" y="297180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to be filled in from the experiment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457200" y="43434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Pixel-level recovery of training inputs from the released weights, no DP.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8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DP-SGD tightness across 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457200" y="1280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Setup:    σ = 1,  L = 500,  C = 1,  δ = 10⁻⁵    ·    fine-tune small CNN with DP-SGD.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4"/>
          <p:cNvSpPr/>
          <p:nvPr/>
        </p:nvSpPr>
        <p:spPr>
          <a:xfrm>
            <a:off x="914400" y="1828800"/>
            <a:ext cx="7314840" cy="411120"/>
          </a:xfrm>
          <a:prstGeom prst="rect">
            <a:avLst/>
          </a:prstGeom>
          <a:solidFill>
            <a:srgbClr val="C5050C"/>
          </a:solidFill>
          <a:ln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5"/>
          <p:cNvSpPr/>
          <p:nvPr/>
        </p:nvSpPr>
        <p:spPr>
          <a:xfrm>
            <a:off x="91440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Target  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6"/>
          <p:cNvSpPr/>
          <p:nvPr/>
        </p:nvSpPr>
        <p:spPr>
          <a:xfrm>
            <a:off x="274320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ε*  (analytic)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457200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ε̃  (measured)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6400800" y="1901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ε̃ / ε*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9"/>
          <p:cNvSpPr/>
          <p:nvPr/>
        </p:nvSpPr>
        <p:spPr>
          <a:xfrm>
            <a:off x="914400" y="2240280"/>
            <a:ext cx="7314840" cy="411120"/>
          </a:xfrm>
          <a:prstGeom prst="rect">
            <a:avLst/>
          </a:prstGeom>
          <a:solidFill>
            <a:srgbClr val="F5F5F5"/>
          </a:solidFill>
          <a:ln w="6350">
            <a:solidFill>
              <a:srgbClr val="6B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914400" y="23317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2743200" y="23317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2"/>
          <p:cNvSpPr/>
          <p:nvPr/>
        </p:nvSpPr>
        <p:spPr>
          <a:xfrm>
            <a:off x="4572000" y="23317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6400800" y="23317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4"/>
          <p:cNvSpPr/>
          <p:nvPr/>
        </p:nvSpPr>
        <p:spPr>
          <a:xfrm>
            <a:off x="914400" y="2651760"/>
            <a:ext cx="7314840" cy="4111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914400" y="2743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6"/>
          <p:cNvSpPr/>
          <p:nvPr/>
        </p:nvSpPr>
        <p:spPr>
          <a:xfrm>
            <a:off x="2743200" y="2743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7"/>
          <p:cNvSpPr/>
          <p:nvPr/>
        </p:nvSpPr>
        <p:spPr>
          <a:xfrm>
            <a:off x="4572000" y="2743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6400800" y="2743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9"/>
          <p:cNvSpPr/>
          <p:nvPr/>
        </p:nvSpPr>
        <p:spPr>
          <a:xfrm>
            <a:off x="914400" y="3063240"/>
            <a:ext cx="7314840" cy="411120"/>
          </a:xfrm>
          <a:prstGeom prst="rect">
            <a:avLst/>
          </a:prstGeom>
          <a:solidFill>
            <a:srgbClr val="F5F5F5"/>
          </a:solidFill>
          <a:ln w="6350">
            <a:solidFill>
              <a:srgbClr val="6B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0"/>
          <p:cNvSpPr/>
          <p:nvPr/>
        </p:nvSpPr>
        <p:spPr>
          <a:xfrm>
            <a:off x="914400" y="3154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1"/>
          <p:cNvSpPr/>
          <p:nvPr/>
        </p:nvSpPr>
        <p:spPr>
          <a:xfrm>
            <a:off x="2743200" y="3154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2"/>
          <p:cNvSpPr/>
          <p:nvPr/>
        </p:nvSpPr>
        <p:spPr>
          <a:xfrm>
            <a:off x="4572000" y="3154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6400800" y="3154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24"/>
          <p:cNvSpPr/>
          <p:nvPr/>
        </p:nvSpPr>
        <p:spPr>
          <a:xfrm>
            <a:off x="914400" y="3474720"/>
            <a:ext cx="7314840" cy="411120"/>
          </a:xfrm>
          <a:prstGeom prst="rect">
            <a:avLst/>
          </a:prstGeom>
          <a:solidFill>
            <a:srgbClr val="FFFFFF"/>
          </a:solidFill>
          <a:ln w="6350">
            <a:solidFill>
              <a:srgbClr val="6B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5"/>
          <p:cNvSpPr/>
          <p:nvPr/>
        </p:nvSpPr>
        <p:spPr>
          <a:xfrm>
            <a:off x="914400" y="3566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26"/>
          <p:cNvSpPr/>
          <p:nvPr/>
        </p:nvSpPr>
        <p:spPr>
          <a:xfrm>
            <a:off x="2743200" y="3566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7"/>
          <p:cNvSpPr/>
          <p:nvPr/>
        </p:nvSpPr>
        <p:spPr>
          <a:xfrm>
            <a:off x="4572000" y="3566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8"/>
          <p:cNvSpPr/>
          <p:nvPr/>
        </p:nvSpPr>
        <p:spPr>
          <a:xfrm>
            <a:off x="6400800" y="3566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—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9"/>
          <p:cNvSpPr/>
          <p:nvPr/>
        </p:nvSpPr>
        <p:spPr>
          <a:xfrm>
            <a:off x="457200" y="434340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Expected:    ε̃ / ε*    ≈   1   at every budget.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0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9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31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9143640" cy="164160"/>
          </a:xfrm>
          <a:prstGeom prst="rect">
            <a:avLst/>
          </a:prstGeom>
          <a:solidFill>
            <a:srgbClr val="C505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457200" y="41148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Implications and scope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3"/>
          <p:cNvSpPr/>
          <p:nvPr/>
        </p:nvSpPr>
        <p:spPr>
          <a:xfrm>
            <a:off x="457200" y="1371600"/>
            <a:ext cx="8229240" cy="1416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4"/>
          <p:cNvSpPr/>
          <p:nvPr/>
        </p:nvSpPr>
        <p:spPr>
          <a:xfrm>
            <a:off x="594360" y="149040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FOR PRODUCTION DP-SGD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594360" y="179208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Loose budgets ε ∈ [8, 9] are only defensible under a trusted-initialization assumption.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6"/>
          <p:cNvSpPr/>
          <p:nvPr/>
        </p:nvSpPr>
        <p:spPr>
          <a:xfrm>
            <a:off x="594360" y="221292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In the model-zoo era, third-party pretrained weights make this assumption strong.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7"/>
          <p:cNvSpPr/>
          <p:nvPr/>
        </p:nvSpPr>
        <p:spPr>
          <a:xfrm>
            <a:off x="457200" y="2971800"/>
            <a:ext cx="8229240" cy="1416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8"/>
          <p:cNvSpPr/>
          <p:nvPr/>
        </p:nvSpPr>
        <p:spPr>
          <a:xfrm>
            <a:off x="594360" y="309060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C5050C"/>
                </a:solidFill>
                <a:effectLst/>
                <a:uFillTx/>
                <a:latin typeface="Calibri"/>
                <a:ea typeface="Arial"/>
              </a:rPr>
              <a:t>SCOPE AND OPEN QUESTIONS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9"/>
          <p:cNvSpPr/>
          <p:nvPr/>
        </p:nvSpPr>
        <p:spPr>
          <a:xfrm>
            <a:off x="594360" y="339228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282828"/>
                </a:solidFill>
                <a:effectLst/>
                <a:uFillTx/>
                <a:latin typeface="Calibri"/>
                <a:ea typeface="Arial"/>
              </a:rPr>
              <a:t>Tightness result is specific to DP-SGD.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0"/>
          <p:cNvSpPr/>
          <p:nvPr/>
        </p:nvSpPr>
        <p:spPr>
          <a:xfrm>
            <a:off x="594360" y="381312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DP-FTRL, DP matrix factorization, and frozen-backbone fine-tuning (LoRA) are open.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11"/>
          <p:cNvSpPr/>
          <p:nvPr/>
        </p:nvSpPr>
        <p:spPr>
          <a:xfrm>
            <a:off x="457200" y="4434840"/>
            <a:ext cx="8229240" cy="411120"/>
          </a:xfrm>
          <a:prstGeom prst="rect">
            <a:avLst/>
          </a:prstGeom>
          <a:solidFill>
            <a:srgbClr val="C5050C"/>
          </a:solidFill>
          <a:ln>
            <a:solidFill>
              <a:srgbClr val="C505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2"/>
          <p:cNvSpPr/>
          <p:nvPr/>
        </p:nvSpPr>
        <p:spPr>
          <a:xfrm>
            <a:off x="594360" y="45262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Slack in end-to-end DP-SGD is an artifact of benign initializations, not a property of the analysis.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3"/>
          <p:cNvSpPr/>
          <p:nvPr/>
        </p:nvSpPr>
        <p:spPr>
          <a:xfrm>
            <a:off x="8321040" y="485100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10 /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4"/>
          <p:cNvSpPr/>
          <p:nvPr/>
        </p:nvSpPr>
        <p:spPr>
          <a:xfrm>
            <a:off x="365760" y="4851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tIns="18000" rIns="36000" bIns="1800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6B6B6B"/>
                </a:solidFill>
                <a:effectLst/>
                <a:uFillTx/>
                <a:latin typeface="Calibri"/>
                <a:ea typeface="Arial"/>
              </a:rPr>
              <a:t>Privacy Backdoors  ·  Feng &amp; Tramèr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LibreOffice/26.2.2.2$Linux_AARCH64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2026-04-27T16:18:56Z</dcterms:created>
  <dc:creator>Ronak Chauhan</dc:creator>
  <dc:description/>
  <dc:language>en-US</dc:language>
  <cp:lastModifiedBy>Ronak Chauhan</cp:lastModifiedBy>
  <dcterms:modified xsi:type="dcterms:W3CDTF">2026-04-27T16:19:26Z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</Properties>
</file>